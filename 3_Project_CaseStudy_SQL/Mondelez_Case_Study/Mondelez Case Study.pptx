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  <p:embeddedFont>
      <p:font typeface="Gill Sans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33" Type="http://schemas.openxmlformats.org/officeDocument/2006/relationships/font" Target="fonts/GillSans-regular.fntdata"/><Relationship Id="rId10" Type="http://schemas.openxmlformats.org/officeDocument/2006/relationships/slide" Target="slides/slide4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GillSan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7c9a654c2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47c9a654c2_0_4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7c9a654c2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47c9a654c2_0_3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7c9a654c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7c9a654c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7c9a654c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47c9a654c2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7c9a654c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7c9a654c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7c9a654c2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47c9a654c2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7c9a654c2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7c9a654c2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c9a654c2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7c9a654c2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7c9a654c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47c9a654c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7c9a654c2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47c9a654c2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7c9a654c2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47c9a654c2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7c9a654c2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47c9a654c2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7c9a654c2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47c9a654c2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7c9a654c2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47c9a654c2_0_5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8" name="Google Shape;88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5" name="Google Shape;95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2" name="Google Shape;102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9" name="Google Shape;109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3" name="Google Shape;113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0" name="Google Shape;120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1088684" y="603389"/>
            <a:ext cx="72024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1088684" y="1511799"/>
            <a:ext cx="7202400" cy="25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0" type="dt"/>
          </p:nvPr>
        </p:nvSpPr>
        <p:spPr>
          <a:xfrm>
            <a:off x="5665604" y="247778"/>
            <a:ext cx="26256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1" name="Google Shape;131;p25"/>
          <p:cNvSpPr txBox="1"/>
          <p:nvPr>
            <p:ph idx="11" type="ftr"/>
          </p:nvPr>
        </p:nvSpPr>
        <p:spPr>
          <a:xfrm>
            <a:off x="1088684" y="246980"/>
            <a:ext cx="44541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2" name="Google Shape;132;p25"/>
          <p:cNvSpPr txBox="1"/>
          <p:nvPr>
            <p:ph idx="12" type="sldNum"/>
          </p:nvPr>
        </p:nvSpPr>
        <p:spPr>
          <a:xfrm>
            <a:off x="360045" y="599230"/>
            <a:ext cx="608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3" name="Google Shape;133;p25"/>
          <p:cNvCxnSpPr/>
          <p:nvPr/>
        </p:nvCxnSpPr>
        <p:spPr>
          <a:xfrm>
            <a:off x="1090422" y="1385316"/>
            <a:ext cx="72057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ctrTitle"/>
          </p:nvPr>
        </p:nvSpPr>
        <p:spPr>
          <a:xfrm>
            <a:off x="547088" y="991838"/>
            <a:ext cx="5766000" cy="124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Gill Sans"/>
              <a:buNone/>
            </a:pPr>
            <a:r>
              <a:rPr lang="en"/>
              <a:t>Mondelez Case Study</a:t>
            </a:r>
            <a:endParaRPr/>
          </a:p>
        </p:txBody>
      </p:sp>
      <p:sp>
        <p:nvSpPr>
          <p:cNvPr id="139" name="Google Shape;139;p26"/>
          <p:cNvSpPr txBox="1"/>
          <p:nvPr>
            <p:ph idx="1" type="subTitle"/>
          </p:nvPr>
        </p:nvSpPr>
        <p:spPr>
          <a:xfrm>
            <a:off x="547221" y="2379675"/>
            <a:ext cx="57660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BY HIMANSHU CHOPRA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38276" y="204875"/>
            <a:ext cx="78348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Gill Sans"/>
              <a:buNone/>
            </a:pPr>
            <a:r>
              <a:rPr lang="en" sz="2020"/>
              <a:t>I have created a demo workspace in BigQuery to perform all the SQL tasks.</a:t>
            </a:r>
            <a:endParaRPr sz="2020"/>
          </a:p>
        </p:txBody>
      </p:sp>
      <p:pic>
        <p:nvPicPr>
          <p:cNvPr id="145" name="Google Shape;145;p27" title="Screen Shot 2025-04-02 at 1.13.41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1350" y="1513725"/>
            <a:ext cx="5829412" cy="346524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7"/>
          <p:cNvSpPr txBox="1"/>
          <p:nvPr/>
        </p:nvSpPr>
        <p:spPr>
          <a:xfrm>
            <a:off x="259500" y="1640375"/>
            <a:ext cx="2767200" cy="26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Here, I have created a Mondelez Test Project under which I have created A new Dataset known as Neilsen_Sample and exported the data given in the xlsx file in the email.</a:t>
            </a:r>
            <a:br>
              <a:rPr lang="en" sz="1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br>
              <a:rPr lang="en" sz="1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n" sz="1100">
                <a:solidFill>
                  <a:srgbClr val="222222"/>
                </a:solidFill>
              </a:rPr>
              <a:t>Share is dollar or unit divided by total</a:t>
            </a:r>
            <a:endParaRPr sz="11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</a:rPr>
              <a:t>CAGR = Compounded Annual Growth Rate</a:t>
            </a:r>
            <a:endParaRPr sz="1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153825" y="8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Q1:</a:t>
            </a:r>
            <a:r>
              <a:rPr b="1" lang="en" sz="1582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What is share of Mondelez manufacturer (mi_key_mfr) in mega-category of biscuits over the years? Please show value and volume. (46% to 25% Sale_share)</a:t>
            </a:r>
            <a:endParaRPr b="1" sz="1582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4523400" cy="39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9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endParaRPr sz="900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dollar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total_biscuit_sales_value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units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total_biscuit_sales_volume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`mondeleztest.Neilsen_Sample.Neilsen_sample_Interview`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mi_mega_category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'BISCUITS'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mondelez_sales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9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endParaRPr sz="900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dollar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mondelez_sales_value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units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mondelez_sales_volume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`mondeleztest.Neilsen_Sample.Neilsen_sample_Interview`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mi_key_mfr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'MONDELEZ'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mi_mega_category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'BISCUITS'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9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2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28"/>
          <p:cNvSpPr txBox="1"/>
          <p:nvPr/>
        </p:nvSpPr>
        <p:spPr>
          <a:xfrm>
            <a:off x="4977650" y="878275"/>
            <a:ext cx="39690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endParaRPr sz="900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m.year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round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(((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m.mondelez_sales_value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t.total_biscuit_sales_value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mondelez_value_share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round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(((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m.mondelez_sales_volume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t.total_biscuit_sales_volume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mondelez_volume_share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mondelez_sales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m.year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t.year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m.year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DESC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650" y="3479275"/>
            <a:ext cx="3822125" cy="15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112519" y="125956"/>
            <a:ext cx="87567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Gill Sans"/>
              <a:buNone/>
            </a:pPr>
            <a:r>
              <a:rPr lang="en" sz="1870"/>
              <a:t>Q2: Which brand has gained the most shares from 2019 to 2023?</a:t>
            </a:r>
            <a:endParaRPr sz="187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70"/>
              <a:t>Ans: </a:t>
            </a:r>
            <a:r>
              <a:rPr lang="en" sz="1510"/>
              <a:t>CAMPBLLS </a:t>
            </a:r>
            <a:r>
              <a:rPr b="0" lang="en" sz="1510"/>
              <a:t>has gained the most share, with an increase of </a:t>
            </a:r>
            <a:r>
              <a:rPr lang="en" sz="1510"/>
              <a:t>10.63% </a:t>
            </a:r>
            <a:r>
              <a:rPr b="0" lang="en" sz="1510"/>
              <a:t>from 2019 to 2023</a:t>
            </a:r>
            <a:endParaRPr b="0" sz="151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Gill Sans"/>
              <a:buNone/>
            </a:pPr>
            <a:r>
              <a:t/>
            </a:r>
            <a:endParaRPr sz="2320"/>
          </a:p>
        </p:txBody>
      </p:sp>
      <p:sp>
        <p:nvSpPr>
          <p:cNvPr id="160" name="Google Shape;160;p29"/>
          <p:cNvSpPr txBox="1"/>
          <p:nvPr/>
        </p:nvSpPr>
        <p:spPr>
          <a:xfrm>
            <a:off x="112525" y="1472475"/>
            <a:ext cx="4145700" cy="3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manufactures_totals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endParaRPr sz="730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endParaRPr sz="730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3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mi_key_mfr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brand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3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" sz="73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dollar</a:t>
            </a:r>
            <a:r>
              <a:rPr lang="en" sz="73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total_sales_value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3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" sz="73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units</a:t>
            </a:r>
            <a:r>
              <a:rPr lang="en" sz="73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totals_sales_volume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3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73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`mondeleztest.Neilsen_Sample.Neilsen_sample_Interview`</a:t>
            </a:r>
            <a:endParaRPr sz="73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mi_mega_category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73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'BISCUITS'</a:t>
            </a:r>
            <a:endParaRPr sz="73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between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2019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2023</a:t>
            </a:r>
            <a:endParaRPr sz="730">
              <a:solidFill>
                <a:srgbClr val="B06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mi_key_mfr</a:t>
            </a:r>
            <a:endParaRPr sz="73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DESC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3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73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totals_overall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endParaRPr sz="730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73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73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endParaRPr sz="730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3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" sz="73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dollar</a:t>
            </a:r>
            <a:r>
              <a:rPr lang="en" sz="73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total_sales_value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3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" sz="73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units</a:t>
            </a:r>
            <a:r>
              <a:rPr lang="en" sz="73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totals_sales_volume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3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73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`mondeleztest.Neilsen_Sample.Neilsen_sample_Interview`</a:t>
            </a:r>
            <a:endParaRPr sz="73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mi_mega_category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73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'BISCUITS'</a:t>
            </a:r>
            <a:endParaRPr sz="73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between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2019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2023</a:t>
            </a:r>
            <a:endParaRPr sz="730">
              <a:solidFill>
                <a:srgbClr val="B06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endParaRPr sz="73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DESC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3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73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9"/>
          <p:cNvSpPr txBox="1"/>
          <p:nvPr/>
        </p:nvSpPr>
        <p:spPr>
          <a:xfrm>
            <a:off x="4995975" y="1351824"/>
            <a:ext cx="4026600" cy="3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862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brand_share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862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endParaRPr sz="862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862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mt.year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862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mt.brand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862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round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mt.total_sales_value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" sz="862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mfr_sales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862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round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tov.total_sales_value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" sz="862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total_Sales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862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round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((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mt.total_sales_value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tov.total_sales_value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" sz="862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share_contribution</a:t>
            </a:r>
            <a:endParaRPr sz="862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862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totals_overall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tov</a:t>
            </a:r>
            <a:endParaRPr sz="862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left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manufactures_totals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mt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mt.year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=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tov.year</a:t>
            </a:r>
            <a:endParaRPr sz="862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mt.total_sales_value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" sz="862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tov.total_sales_value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" sz="862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sz="862">
              <a:solidFill>
                <a:srgbClr val="B06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862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asc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862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desc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862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862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endParaRPr sz="862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brand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862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WHEN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862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2019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share_contribution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share_2019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862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WHEN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862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2023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share_contribution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share_2023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862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ROUND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862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WHEN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862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2023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share_contribution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WHEN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862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2019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share_contribution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862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862">
              <a:solidFill>
                <a:srgbClr val="B06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862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share_gain</a:t>
            </a:r>
            <a:endParaRPr sz="862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brand_share</a:t>
            </a:r>
            <a:endParaRPr sz="862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latin typeface="Roboto Mono"/>
                <a:ea typeface="Roboto Mono"/>
                <a:cs typeface="Roboto Mono"/>
                <a:sym typeface="Roboto Mono"/>
              </a:rPr>
              <a:t>brand</a:t>
            </a:r>
            <a:endParaRPr sz="862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desc</a:t>
            </a:r>
            <a:endParaRPr sz="862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862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limit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62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862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862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636"/>
              <a:buNone/>
            </a:pPr>
            <a:r>
              <a:t/>
            </a:r>
            <a:endParaRPr b="1" sz="94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2" name="Google Shape;1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25" y="5479350"/>
            <a:ext cx="4571999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71350" y="71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20"/>
              <a:t>Q3:In which sub-category is the share of Mondelez under-indexed (less than) vs the total mega-category of biscuits?</a:t>
            </a:r>
            <a:br>
              <a:rPr lang="en" sz="1320"/>
            </a:br>
            <a:r>
              <a:rPr lang="en" sz="1100">
                <a:solidFill>
                  <a:srgbClr val="222222"/>
                </a:solidFill>
              </a:rPr>
              <a:t>As the year is not mentioned in the question, we are doing the calculation without considering the year.</a:t>
            </a:r>
            <a:br>
              <a:rPr lang="en" sz="1320"/>
            </a:br>
            <a:endParaRPr sz="1320"/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311700" y="1152475"/>
            <a:ext cx="4523400" cy="39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sub_category_sales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9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endParaRPr sz="900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mi_subcategory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sub_category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dollar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total_sales_value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WHEN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mi_key_mfr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'MONDELEZ'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dollar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mondelez_sales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`mondeleztest.Neilsen_Sample.Neilsen_sample_Interview`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mi_mega_category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'BISCUITS'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mi_subcategory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t/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total_biscuits_sales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9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endParaRPr sz="900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dollar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total_sales_value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WHEN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mi_key_mfr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'MONDELEZ'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dollar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mondelez_sales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`mondeleztest.Neilsen_Sample.Neilsen_sample_Interview`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mi_mega_category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'BISCUITS'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9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0"/>
          <p:cNvSpPr txBox="1"/>
          <p:nvPr/>
        </p:nvSpPr>
        <p:spPr>
          <a:xfrm>
            <a:off x="4997525" y="805200"/>
            <a:ext cx="3969000" cy="3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endParaRPr sz="900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s.sub_category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ROUND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s.mondelez_sales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NULLIF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s.total_sales_value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mondelez_sub_category_share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ROUND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t.mondelez_sales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NULLIF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t.total_sales_value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mondelez_total_share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sub_category_sales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CROSS JOIN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total_biscuits_sales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s.mondelez_sales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NULLIF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s.total_sales_value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t.mondelez_sales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NULLIF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t.total_sales_value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mondelez_sub_category_share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ASC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 Results:</a:t>
            </a:r>
            <a:endParaRPr/>
          </a:p>
        </p:txBody>
      </p:sp>
      <p:pic>
        <p:nvPicPr>
          <p:cNvPr id="175" name="Google Shape;17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7600" y="1017725"/>
            <a:ext cx="615315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1"/>
          <p:cNvSpPr txBox="1"/>
          <p:nvPr/>
        </p:nvSpPr>
        <p:spPr>
          <a:xfrm>
            <a:off x="204750" y="1139450"/>
            <a:ext cx="2448000" cy="3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As we can see, all these 10 sub-categories are the ones where the share of Mondelez is under-indexed than the total mega-category of biscuits.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169275" y="151275"/>
            <a:ext cx="85206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Q4: Show pack size segment (mi_pack) with the CAGR increase from 2019 to 2023? SQL also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4130350" y="534100"/>
            <a:ext cx="5013600" cy="45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sales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b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b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mi_pack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coalesce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dollar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</a:t>
            </a:r>
            <a:b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`mondeleztest.Neilsen_Sample.Neilsen_sample_Interview`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b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2019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2023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mi_pack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b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asc</a:t>
            </a:r>
            <a:endParaRPr sz="900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pivot_form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b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b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mi_pack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coalesce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WHEN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2019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sales_2019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coalesce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WHEN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2023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sales_2023</a:t>
            </a:r>
            <a:b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sales</a:t>
            </a:r>
            <a:b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mi_pack</a:t>
            </a:r>
            <a:b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9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b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mi_pack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round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sales_2019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sales_2019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round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sales_2023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sales_2023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coalesce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ROUND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POW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sales_2023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NULLIF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sales_2019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0.25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" sz="9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9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CAGR_Percentage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pivot_form</a:t>
            </a:r>
            <a:b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CAGR_Percentage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DESC</a:t>
            </a:r>
            <a:r>
              <a:rPr lang="en" sz="9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/>
          </a:p>
        </p:txBody>
      </p:sp>
      <p:sp>
        <p:nvSpPr>
          <p:cNvPr id="183" name="Google Shape;183;p32"/>
          <p:cNvSpPr txBox="1"/>
          <p:nvPr/>
        </p:nvSpPr>
        <p:spPr>
          <a:xfrm>
            <a:off x="76200" y="534100"/>
            <a:ext cx="3907800" cy="3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CAGR= </a:t>
            </a:r>
            <a:r>
              <a:rPr b="1" lang="en" sz="1000">
                <a:solidFill>
                  <a:schemeClr val="dk1"/>
                </a:solidFill>
              </a:rPr>
              <a:t>(Value_end /Value_Start)</a:t>
            </a:r>
            <a:r>
              <a:rPr b="1" baseline="30000" lang="en" sz="1000">
                <a:solidFill>
                  <a:schemeClr val="dk1"/>
                </a:solidFill>
              </a:rPr>
              <a:t>(1/n)</a:t>
            </a:r>
            <a:r>
              <a:rPr b="1" lang="en" sz="1000">
                <a:solidFill>
                  <a:schemeClr val="dk1"/>
                </a:solidFill>
              </a:rPr>
              <a:t> - 1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Value_end = Final value (e.g., sales in 2023)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Value_start = Initial value (e.g., sales in 2019)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n = Number of years (e.g., 2023−2019)= 4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We can use pow(Power) function in BQ to achieve CAGR.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dk2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PARTY SIZE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SINGLE SERVE</a:t>
            </a:r>
            <a:r>
              <a:rPr lang="en" sz="1100">
                <a:solidFill>
                  <a:schemeClr val="dk1"/>
                </a:solidFill>
              </a:rPr>
              <a:t> show strong positive CAGRs (106.52% and 82.55%), indicating they have experienced significant growth in sales over the 4 years.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FAMILY SIZE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BASE SIZE</a:t>
            </a:r>
            <a:r>
              <a:rPr lang="en" sz="1100">
                <a:solidFill>
                  <a:schemeClr val="dk1"/>
                </a:solidFill>
              </a:rPr>
              <a:t> also have a good CAGR of around </a:t>
            </a:r>
            <a:r>
              <a:rPr b="1" lang="en" sz="1100">
                <a:solidFill>
                  <a:schemeClr val="dk1"/>
                </a:solidFill>
              </a:rPr>
              <a:t>39% to 31%</a:t>
            </a:r>
            <a:r>
              <a:rPr lang="en" sz="1100">
                <a:solidFill>
                  <a:schemeClr val="dk1"/>
                </a:solidFill>
              </a:rPr>
              <a:t>, suggesting steady and strong growth.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Q4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6125"/>
            <a:ext cx="784860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151325" y="160225"/>
            <a:ext cx="8680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Q5: Which brand has seen the largest growth /decline from 2019 to 2023?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8"/>
              <a:t>NABISCO (NABISCO BISCUIT CO) has seen the largest growth in th sales_Change which is approx 2.14M and Take”s Bake shop has seen the largest decline which is approx -20,854.</a:t>
            </a:r>
            <a:endParaRPr sz="1188"/>
          </a:p>
        </p:txBody>
      </p:sp>
      <p:sp>
        <p:nvSpPr>
          <p:cNvPr id="195" name="Google Shape;195;p34"/>
          <p:cNvSpPr txBox="1"/>
          <p:nvPr/>
        </p:nvSpPr>
        <p:spPr>
          <a:xfrm>
            <a:off x="299850" y="870150"/>
            <a:ext cx="8532300" cy="42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8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endParaRPr sz="800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8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m.brand_high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brand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8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dollar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total_sales_value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8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`mondeleztest.Neilsen_Sample.Neilsen_sample_Interview`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" sz="8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800">
              <a:solidFill>
                <a:srgbClr val="B06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mi_key_mfr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'MONDELEZ'</a:t>
            </a:r>
            <a:endParaRPr sz="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m.brand_high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DESC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8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desc</a:t>
            </a:r>
            <a:endParaRPr sz="800">
              <a:solidFill>
                <a:srgbClr val="1967D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8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8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brand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8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COALESCE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WHEN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8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2019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total_sales_value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8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sales_2019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8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COALESCE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WHEN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8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2023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total_sales_value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8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sales_2023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8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ROUND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8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COALESCE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WHEN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8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2023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total_sales_value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8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endParaRPr sz="8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COALESCE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WHEN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8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2019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total_sales_value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8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80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800">
              <a:solidFill>
                <a:srgbClr val="B06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8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sales_change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brand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ORDER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BY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sales_change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1967D2"/>
                </a:solidFill>
                <a:latin typeface="Roboto Mono"/>
                <a:ea typeface="Roboto Mono"/>
                <a:cs typeface="Roboto Mono"/>
                <a:sym typeface="Roboto Mono"/>
              </a:rPr>
              <a:t>DESC</a:t>
            </a:r>
            <a:r>
              <a:rPr lang="en" sz="8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8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Q5 Results:</a:t>
            </a:r>
            <a:endParaRPr/>
          </a:p>
        </p:txBody>
      </p:sp>
      <p:pic>
        <p:nvPicPr>
          <p:cNvPr id="201" name="Google Shape;20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" y="1572325"/>
            <a:ext cx="908685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BI Questions:</a:t>
            </a:r>
            <a:endParaRPr/>
          </a:p>
        </p:txBody>
      </p:sp>
      <p:sp>
        <p:nvSpPr>
          <p:cNvPr id="207" name="Google Shape;207;p36"/>
          <p:cNvSpPr txBox="1"/>
          <p:nvPr>
            <p:ph idx="1" type="body"/>
          </p:nvPr>
        </p:nvSpPr>
        <p:spPr>
          <a:xfrm>
            <a:off x="311700" y="1152475"/>
            <a:ext cx="8520600" cy="18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 the Power BI questions, the dataset is connected to GoogleBigQuery Using the GetData option.</a:t>
            </a:r>
            <a:br>
              <a:rPr lang="en"/>
            </a:br>
            <a:br>
              <a:rPr lang="en"/>
            </a:br>
            <a:r>
              <a:rPr lang="en"/>
              <a:t>The billing account/project is used in our case that is mondeleztest to have real-time or live connection from BigQuery to Power BI using DirectQuery.</a:t>
            </a:r>
            <a:br>
              <a:rPr lang="en"/>
            </a:br>
            <a:r>
              <a:rPr lang="en"/>
              <a:t>A Screenshot has been attached that shows the connection. </a:t>
            </a:r>
            <a:endParaRPr/>
          </a:p>
        </p:txBody>
      </p:sp>
      <p:pic>
        <p:nvPicPr>
          <p:cNvPr id="208" name="Google Shape;20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225" y="3016375"/>
            <a:ext cx="7723499" cy="18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/>
          <p:nvPr>
            <p:ph type="title"/>
          </p:nvPr>
        </p:nvSpPr>
        <p:spPr>
          <a:xfrm>
            <a:off x="120850" y="136350"/>
            <a:ext cx="89469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50"/>
              <a:t>Q1:</a:t>
            </a:r>
            <a:r>
              <a:rPr lang="en" sz="1250"/>
              <a:t>Power BI : Plot a column chart to show top N manufacturers by dollars with time period filters:  Here, TOPN is dynamic.</a:t>
            </a:r>
            <a:endParaRPr sz="1250"/>
          </a:p>
        </p:txBody>
      </p:sp>
      <p:pic>
        <p:nvPicPr>
          <p:cNvPr id="214" name="Google Shape;2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9175"/>
            <a:ext cx="9144002" cy="461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0" y="0"/>
            <a:ext cx="8520600" cy="7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Q: Plot a weekly sales trend chart for Mondelez manufacture and brand filters.</a:t>
            </a:r>
            <a:br>
              <a:rPr lang="en" sz="1300"/>
            </a:br>
            <a:r>
              <a:rPr lang="en" sz="1300"/>
              <a:t>Ans: We have year as a filter, period_date as a filter, Brand as a filter and showing total Sales by the brand weekly and </a:t>
            </a:r>
            <a:r>
              <a:rPr lang="en" sz="1300"/>
              <a:t>cumulative</a:t>
            </a:r>
            <a:r>
              <a:rPr lang="en" sz="1300"/>
              <a:t> on top.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220" name="Google Shape;22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0880"/>
            <a:ext cx="9143999" cy="5071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Gill Sans"/>
              <a:buNone/>
            </a:pPr>
            <a:r>
              <a:rPr lang="en"/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